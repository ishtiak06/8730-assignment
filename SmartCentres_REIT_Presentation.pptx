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Normalized Return (Base = 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Normalized Return (Base = 100)</c:v>
                </c:pt>
              </c:strCache>
            </c:strRef>
          </c:tx>
          <c:spPr>
            <a:solidFill>
              <a:srgbClr val="3A7EB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02-A848-AAB8-9D62EEC1E48F}"/>
              </c:ext>
            </c:extLst>
          </c:dPt>
          <c:dPt>
            <c:idx val="1"/>
            <c:invertIfNegative val="0"/>
            <c:bubble3D val="0"/>
            <c:spPr>
              <a:solidFill>
                <a:srgbClr val="D4A8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02-A848-AAB8-9D62EEC1E48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302-A848-AAB8-9D62EEC1E48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302-A848-AAB8-9D62EEC1E4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B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RioCan (REI-UN)</c:v>
                </c:pt>
                <c:pt idx="1">
                  <c:v>SmartCentres
(SRU-UN) ★</c:v>
                </c:pt>
                <c:pt idx="2">
                  <c:v>Choice Properties
(CHP-UN)</c:v>
                </c:pt>
                <c:pt idx="3">
                  <c:v>First Capital
(FCR-UN)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</c:v>
                </c:pt>
                <c:pt idx="1">
                  <c:v>126</c:v>
                </c:pt>
                <c:pt idx="2">
                  <c:v>118</c:v>
                </c:pt>
                <c:pt idx="3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02-A848-AAB8-9D62EEC1E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5"/>
          <c:min val="100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71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SmartCentres REIT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Analysis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50292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Multi-Source Data Analytics Approach to Investment Recommendation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Aravindhan Ramesh  |  Novesh Sewruttun  |  Satabdee Saha  |  Mohammad Ifaz Ishtiak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Odette School of Business, University of Windsor  |  BSMM-8730: Data Acquisition &amp;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El-Sharif  |  July 17,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069080"/>
            <a:ext cx="146304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365760" y="40690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65960" y="41605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 for income-focused investors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914400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6" name="Text 4"/>
          <p:cNvSpPr/>
          <p:nvPr/>
        </p:nvSpPr>
        <p:spPr>
          <a:xfrm>
            <a:off x="475488" y="1170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0432" y="11521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Introduction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914400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70432" y="22677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2670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Evaluate SmartCentres?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4114800" cy="914400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/>
          <p:nvPr/>
        </p:nvSpPr>
        <p:spPr>
          <a:xfrm>
            <a:off x="475488" y="34015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70432" y="3383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0432" y="37856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Sources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078992"/>
            <a:ext cx="4114800" cy="914400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/>
          <p:nvPr/>
        </p:nvSpPr>
        <p:spPr>
          <a:xfrm>
            <a:off x="4910328" y="1170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05272" y="11521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05272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Analysis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194560"/>
            <a:ext cx="4114800" cy="914400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/>
          <p:nvPr/>
        </p:nvSpPr>
        <p:spPr>
          <a:xfrm>
            <a:off x="4910328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05272" y="22677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Verdict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05272" y="2670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Recommendation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310128"/>
            <a:ext cx="4114800" cy="914400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6" name="Text 24"/>
          <p:cNvSpPr/>
          <p:nvPr/>
        </p:nvSpPr>
        <p:spPr>
          <a:xfrm>
            <a:off x="4910328" y="34015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05272" y="3383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Takeaways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05272" y="37856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Walk-through &amp; Lessons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252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BD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37744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TEAM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Team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86968" y="1389888"/>
            <a:ext cx="1188720" cy="1188720"/>
          </a:xfrm>
          <a:prstGeom prst="ellipse">
            <a:avLst/>
          </a:prstGeom>
          <a:solidFill>
            <a:srgbClr val="0D1B3E"/>
          </a:solidFill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886968" y="13898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Aravindhan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1389888"/>
            <a:ext cx="1188720" cy="1188720"/>
          </a:xfrm>
          <a:prstGeom prst="ellipse">
            <a:avLst/>
          </a:prstGeom>
          <a:solidFill>
            <a:srgbClr val="0D1B3E"/>
          </a:solidFill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2971800" y="13898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Novesh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Sewruttun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56632" y="1389888"/>
            <a:ext cx="1188720" cy="1188720"/>
          </a:xfrm>
          <a:prstGeom prst="ellipse">
            <a:avLst/>
          </a:prstGeom>
          <a:solidFill>
            <a:srgbClr val="0D1B3E"/>
          </a:solidFill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5056632" y="13898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26864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Satabdee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41464" y="1389888"/>
            <a:ext cx="1188720" cy="1188720"/>
          </a:xfrm>
          <a:prstGeom prst="ellipse">
            <a:avLst/>
          </a:prstGeom>
          <a:solidFill>
            <a:srgbClr val="0D1B3E"/>
          </a:solidFill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7141464" y="13898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11696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Ifaz Ishtiak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Odette School of Business  | BSMM-8730: Data Acquisition and Management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37744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SmartCentres?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largest retail REIT — but is it a sound investment TODAY?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142348"/>
          </a:solidFill>
          <a:ln w="12700">
            <a:solidFill>
              <a:srgbClr val="14234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Company Performance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819656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Net Income, FFO &amp; Occupancy trend FY2023-FY2025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8229600" cy="502920"/>
          </a:xfrm>
          <a:prstGeom prst="rect">
            <a:avLst/>
          </a:prstGeom>
          <a:solidFill>
            <a:srgbClr val="142348"/>
          </a:solidFill>
          <a:ln w="12700">
            <a:solidFill>
              <a:srgbClr val="14234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594360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Dividend Sustainability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39572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6.15% yield safe vs. retail REIT peers?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8229600" cy="502920"/>
          </a:xfrm>
          <a:prstGeom prst="rect">
            <a:avLst/>
          </a:prstGeom>
          <a:solidFill>
            <a:srgbClr val="142348"/>
          </a:solidFill>
          <a:ln w="12700">
            <a:solidFill>
              <a:srgbClr val="14234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Interest Rate Sensitivity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9718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Bank of Canada rate cycle on REIT valuation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8229600" cy="502920"/>
          </a:xfrm>
          <a:prstGeom prst="rect">
            <a:avLst/>
          </a:prstGeom>
          <a:solidFill>
            <a:srgbClr val="142348"/>
          </a:solidFill>
          <a:ln w="12700">
            <a:solidFill>
              <a:srgbClr val="14234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/>
          <p:nvPr/>
        </p:nvSpPr>
        <p:spPr>
          <a:xfrm>
            <a:off x="594360" y="3547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Market Returns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54787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1-year performance vs. RioCan, Choice, First Capital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87368"/>
            <a:ext cx="8229600" cy="502920"/>
          </a:xfrm>
          <a:prstGeom prst="rect">
            <a:avLst/>
          </a:prstGeom>
          <a:solidFill>
            <a:srgbClr val="142348"/>
          </a:solidFill>
          <a:ln w="12700">
            <a:solidFill>
              <a:srgbClr val="14234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Text 18"/>
          <p:cNvSpPr/>
          <p:nvPr/>
        </p:nvSpPr>
        <p:spPr>
          <a:xfrm>
            <a:off x="594360" y="41239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Relative Valuation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4123944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P/E, yield premium and asset quality across the peer 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252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37744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HOW WE DID 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150876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 Valet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WOWA / IR Docs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176272"/>
            <a:ext cx="210312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Shape 8"/>
          <p:cNvSpPr/>
          <p:nvPr/>
        </p:nvSpPr>
        <p:spPr>
          <a:xfrm>
            <a:off x="1993392" y="1389888"/>
            <a:ext cx="1508760" cy="1737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1993392" y="1463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93392" y="18745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pruning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02152" y="2176272"/>
            <a:ext cx="210312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Shape 12"/>
          <p:cNvSpPr/>
          <p:nvPr/>
        </p:nvSpPr>
        <p:spPr>
          <a:xfrm>
            <a:off x="3712464" y="1389888"/>
            <a:ext cx="1508760" cy="17373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3712464" y="1463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12464" y="18745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Collections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Cloud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21224" y="2176272"/>
            <a:ext cx="210312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Shape 16"/>
          <p:cNvSpPr/>
          <p:nvPr/>
        </p:nvSpPr>
        <p:spPr>
          <a:xfrm>
            <a:off x="5431536" y="1389888"/>
            <a:ext cx="150876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5431536" y="1463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31536" y="18745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0296" y="2176272"/>
            <a:ext cx="210312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Shape 20"/>
          <p:cNvSpPr/>
          <p:nvPr/>
        </p:nvSpPr>
        <p:spPr>
          <a:xfrm>
            <a:off x="7150608" y="1389888"/>
            <a:ext cx="1508760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/>
          <p:cNvSpPr/>
          <p:nvPr/>
        </p:nvSpPr>
        <p:spPr>
          <a:xfrm>
            <a:off x="7150608" y="1463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50608" y="18745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11680" y="3273552"/>
            <a:ext cx="3429000" cy="347472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7" name="Text 25"/>
          <p:cNvSpPr/>
          <p:nvPr/>
        </p:nvSpPr>
        <p:spPr>
          <a:xfrm>
            <a:off x="2121408" y="3291840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yfinance — SRU-UN.TO + 4 peers (price, yield, P/E, market cap)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0" y="3675888"/>
            <a:ext cx="3429000" cy="347472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9" name="Text 27"/>
          <p:cNvSpPr/>
          <p:nvPr/>
        </p:nvSpPr>
        <p:spPr>
          <a:xfrm>
            <a:off x="2121408" y="369417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BoC Valet API — V122530 overnight rate (no auth required)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3273552"/>
            <a:ext cx="3429000" cy="347472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1" name="Text 29"/>
          <p:cNvSpPr/>
          <p:nvPr/>
        </p:nvSpPr>
        <p:spPr>
          <a:xfrm>
            <a:off x="5779008" y="3291840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WOWA Canada — sector benchmark dividend yields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675888"/>
            <a:ext cx="3429000" cy="347472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3" name="Text 31"/>
          <p:cNvSpPr/>
          <p:nvPr/>
        </p:nvSpPr>
        <p:spPr>
          <a:xfrm>
            <a:off x="5779008" y="369417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SmartCentres IR Disclosures — revenue, FFO, occupancy (FY2023-25)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37744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KEY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Performance: Strong Operational Momentum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$913.9M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2542032" y="149047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$310.8M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FY2025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626864" y="149047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Growth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11696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/>
          <p:nvPr/>
        </p:nvSpPr>
        <p:spPr>
          <a:xfrm>
            <a:off x="6711696" y="149047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11696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SPNOI Growth FY2025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 &amp; Occupancy Trend (FY2023–FY2025)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44368"/>
            <a:ext cx="292608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Text 18"/>
          <p:cNvSpPr/>
          <p:nvPr/>
        </p:nvSpPr>
        <p:spPr>
          <a:xfrm>
            <a:off x="45720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944368"/>
            <a:ext cx="141732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/>
          <p:nvPr/>
        </p:nvSpPr>
        <p:spPr>
          <a:xfrm>
            <a:off x="3383280" y="294436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944368"/>
            <a:ext cx="141732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2"/>
          <p:cNvSpPr/>
          <p:nvPr/>
        </p:nvSpPr>
        <p:spPr>
          <a:xfrm>
            <a:off x="4800600" y="294436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944368"/>
            <a:ext cx="146304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6" name="Text 24"/>
          <p:cNvSpPr/>
          <p:nvPr/>
        </p:nvSpPr>
        <p:spPr>
          <a:xfrm>
            <a:off x="621792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18688"/>
            <a:ext cx="2926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8" name="Text 26"/>
          <p:cNvSpPr/>
          <p:nvPr/>
        </p:nvSpPr>
        <p:spPr>
          <a:xfrm>
            <a:off x="45720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21868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0" name="Text 28"/>
          <p:cNvSpPr/>
          <p:nvPr/>
        </p:nvSpPr>
        <p:spPr>
          <a:xfrm>
            <a:off x="3383280" y="321868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21868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2" name="Text 30"/>
          <p:cNvSpPr/>
          <p:nvPr/>
        </p:nvSpPr>
        <p:spPr>
          <a:xfrm>
            <a:off x="4800600" y="321868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218688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4" name="Text 32"/>
          <p:cNvSpPr/>
          <p:nvPr/>
        </p:nvSpPr>
        <p:spPr>
          <a:xfrm>
            <a:off x="6217920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493008"/>
            <a:ext cx="2926080" cy="27432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6" name="Text 34"/>
          <p:cNvSpPr/>
          <p:nvPr/>
        </p:nvSpPr>
        <p:spPr>
          <a:xfrm>
            <a:off x="457200" y="3493008"/>
            <a:ext cx="29260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Debt-to-Assets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83280" y="3493008"/>
            <a:ext cx="1417320" cy="27432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8" name="Text 36"/>
          <p:cNvSpPr/>
          <p:nvPr/>
        </p:nvSpPr>
        <p:spPr>
          <a:xfrm>
            <a:off x="3383280" y="349300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43.1%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3493008"/>
            <a:ext cx="1417320" cy="27432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0" name="Text 38"/>
          <p:cNvSpPr/>
          <p:nvPr/>
        </p:nvSpPr>
        <p:spPr>
          <a:xfrm>
            <a:off x="4800600" y="349300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493008"/>
            <a:ext cx="1463040" cy="27432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2" name="Text 40"/>
          <p:cNvSpPr/>
          <p:nvPr/>
        </p:nvSpPr>
        <p:spPr>
          <a:xfrm>
            <a:off x="6217920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 ▲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767328"/>
            <a:ext cx="2926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4" name="Text 42"/>
          <p:cNvSpPr/>
          <p:nvPr/>
        </p:nvSpPr>
        <p:spPr>
          <a:xfrm>
            <a:off x="45720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83280" y="376732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6" name="Text 44"/>
          <p:cNvSpPr/>
          <p:nvPr/>
        </p:nvSpPr>
        <p:spPr>
          <a:xfrm>
            <a:off x="3383280" y="376732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376732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8" name="Text 46"/>
          <p:cNvSpPr/>
          <p:nvPr/>
        </p:nvSpPr>
        <p:spPr>
          <a:xfrm>
            <a:off x="4800600" y="376732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17920" y="3767328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0" name="Text 48"/>
          <p:cNvSpPr/>
          <p:nvPr/>
        </p:nvSpPr>
        <p:spPr>
          <a:xfrm>
            <a:off x="6217920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2.6x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4041648"/>
            <a:ext cx="2926080" cy="27432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2" name="Text 50"/>
          <p:cNvSpPr/>
          <p:nvPr/>
        </p:nvSpPr>
        <p:spPr>
          <a:xfrm>
            <a:off x="45720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SPNOI Growth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383280" y="4041648"/>
            <a:ext cx="1417320" cy="27432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4" name="Text 52"/>
          <p:cNvSpPr/>
          <p:nvPr/>
        </p:nvSpPr>
        <p:spPr>
          <a:xfrm>
            <a:off x="3383280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800600" y="4041648"/>
            <a:ext cx="1417320" cy="27432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6" name="Text 54"/>
          <p:cNvSpPr/>
          <p:nvPr/>
        </p:nvSpPr>
        <p:spPr>
          <a:xfrm>
            <a:off x="4800600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2.80%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17920" y="4041648"/>
            <a:ext cx="1463040" cy="27432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8" name="Text 56"/>
          <p:cNvSpPr/>
          <p:nvPr/>
        </p:nvSpPr>
        <p:spPr>
          <a:xfrm>
            <a:off x="6217920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3.70%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626" y="2286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BD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37744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KEY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 Sustainability: Income Leader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743200" cy="31272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6.15%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18688"/>
            <a:ext cx="201168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5.54% sector avg.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 Payout Ratio improved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91.70% (FY2024) → 89.20% (FY2025)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716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— Peer Comparison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(SRU-UN)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15000" y="1783080"/>
            <a:ext cx="2699309" cy="2011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8505749" y="17373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212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RioCan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(REI-UN)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258568"/>
            <a:ext cx="2137501" cy="201168"/>
          </a:xfrm>
          <a:prstGeom prst="rect">
            <a:avLst/>
          </a:prstGeom>
          <a:solidFill>
            <a:srgbClr val="3A7EBA"/>
          </a:solidFill>
          <a:ln w="12700">
            <a:solidFill>
              <a:srgbClr val="3A7EB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/>
          <p:nvPr/>
        </p:nvSpPr>
        <p:spPr>
          <a:xfrm>
            <a:off x="7943941" y="22128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688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Properties REIT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2734056"/>
            <a:ext cx="2093610" cy="201168"/>
          </a:xfrm>
          <a:prstGeom prst="rect">
            <a:avLst/>
          </a:prstGeom>
          <a:solidFill>
            <a:srgbClr val="3A7EBA"/>
          </a:solidFill>
          <a:ln w="12700">
            <a:solidFill>
              <a:srgbClr val="3A7EB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1" name="Text 19"/>
          <p:cNvSpPr/>
          <p:nvPr/>
        </p:nvSpPr>
        <p:spPr>
          <a:xfrm>
            <a:off x="7900050" y="2688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4.74%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3163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Apartment Properties REIT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3209544"/>
            <a:ext cx="1926824" cy="201168"/>
          </a:xfrm>
          <a:prstGeom prst="rect">
            <a:avLst/>
          </a:prstGeom>
          <a:solidFill>
            <a:srgbClr val="3A7EBA"/>
          </a:solidFill>
          <a:ln w="12700">
            <a:solidFill>
              <a:srgbClr val="3A7EB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2"/>
          <p:cNvSpPr/>
          <p:nvPr/>
        </p:nvSpPr>
        <p:spPr>
          <a:xfrm>
            <a:off x="7733264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4.44%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639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Capital REIT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03661" y="4096512"/>
            <a:ext cx="2431572" cy="20116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7" name="Text 25"/>
          <p:cNvSpPr/>
          <p:nvPr/>
        </p:nvSpPr>
        <p:spPr>
          <a:xfrm>
            <a:off x="7641824" y="36393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4114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Average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03661" y="3675888"/>
            <a:ext cx="1704304" cy="201168"/>
          </a:xfrm>
          <a:prstGeom prst="rect">
            <a:avLst/>
          </a:prstGeom>
          <a:solidFill>
            <a:srgbClr val="3A7EBA"/>
          </a:solidFill>
          <a:ln w="12700">
            <a:solidFill>
              <a:srgbClr val="3A7EB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0" name="Text 28"/>
          <p:cNvSpPr/>
          <p:nvPr/>
        </p:nvSpPr>
        <p:spPr>
          <a:xfrm>
            <a:off x="9370405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8.12%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7D01E1D0-FE2F-BE50-157E-E42D9B33FAB9}"/>
              </a:ext>
            </a:extLst>
          </p:cNvPr>
          <p:cNvSpPr/>
          <p:nvPr/>
        </p:nvSpPr>
        <p:spPr>
          <a:xfrm>
            <a:off x="8265810" y="399142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5.54%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13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37744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KEY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Rate Impact: Tailwinds Now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Canada Policy Rate — from 5.00% peak to 2.50%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790700"/>
            <a:ext cx="868680" cy="14097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365760" y="15163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861185"/>
            <a:ext cx="868680" cy="1339215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1755648" y="1586865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55648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01568" y="2002155"/>
            <a:ext cx="868680" cy="1198245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/>
          <p:nvPr/>
        </p:nvSpPr>
        <p:spPr>
          <a:xfrm>
            <a:off x="3145536" y="1727835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45536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91456" y="2284095"/>
            <a:ext cx="868680" cy="916305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/>
          <p:nvPr/>
        </p:nvSpPr>
        <p:spPr>
          <a:xfrm>
            <a:off x="4535424" y="2009775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35424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81344" y="2425065"/>
            <a:ext cx="868680" cy="775335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Text 18"/>
          <p:cNvSpPr/>
          <p:nvPr/>
        </p:nvSpPr>
        <p:spPr>
          <a:xfrm>
            <a:off x="5925312" y="2150745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25312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71232" y="2495550"/>
            <a:ext cx="868680" cy="70485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/>
          <p:cNvSpPr/>
          <p:nvPr/>
        </p:nvSpPr>
        <p:spPr>
          <a:xfrm>
            <a:off x="7315200" y="222123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4388" y="3547872"/>
            <a:ext cx="2310251" cy="768096"/>
          </a:xfrm>
          <a:prstGeom prst="rect">
            <a:avLst/>
          </a:prstGeom>
          <a:solidFill>
            <a:srgbClr val="142348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6" name="Text 24"/>
          <p:cNvSpPr/>
          <p:nvPr/>
        </p:nvSpPr>
        <p:spPr>
          <a:xfrm>
            <a:off x="561692" y="3683855"/>
            <a:ext cx="223564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2.6x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0" y="409415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 FY2025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09034" y="3547416"/>
            <a:ext cx="2283866" cy="768096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9" name="Text 27"/>
          <p:cNvSpPr/>
          <p:nvPr/>
        </p:nvSpPr>
        <p:spPr>
          <a:xfrm>
            <a:off x="2716813" y="3683855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2.50%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734008" y="40587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BoC Policy Rate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58476" y="3539656"/>
            <a:ext cx="2529109" cy="768096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2" name="Text 30"/>
          <p:cNvSpPr/>
          <p:nvPr/>
        </p:nvSpPr>
        <p:spPr>
          <a:xfrm>
            <a:off x="5531391" y="3639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510917" y="399516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SRU-UN 1-Year Return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tracked upward as rate stabilized — interest coverage rebounded from 2.5x to 2.6x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37744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KEY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1-Year Market Performance vs. Peers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0350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1737360"/>
            <a:ext cx="2743200" cy="68580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6"/>
          <p:cNvSpPr/>
          <p:nvPr/>
        </p:nvSpPr>
        <p:spPr>
          <a:xfrm>
            <a:off x="6126480" y="179222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RioCan led at ~135 (capital appreciation leader)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542032"/>
            <a:ext cx="2743200" cy="68580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8"/>
          <p:cNvSpPr/>
          <p:nvPr/>
        </p:nvSpPr>
        <p:spPr>
          <a:xfrm>
            <a:off x="6126480" y="25968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 SmartCentres at ~126 — solid 2nd place finish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3346704"/>
            <a:ext cx="2743200" cy="68580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0"/>
          <p:cNvSpPr/>
          <p:nvPr/>
        </p:nvSpPr>
        <p:spPr>
          <a:xfrm>
            <a:off x="6126480" y="34015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Beat Choice Properties (~118) and First Capital (~114)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4151376"/>
            <a:ext cx="2743200" cy="68580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2"/>
          <p:cNvSpPr/>
          <p:nvPr/>
        </p:nvSpPr>
        <p:spPr>
          <a:xfrm>
            <a:off x="6126480" y="4206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High yield + capital growth = income AND upside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37744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KEY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Multi-Perspective Valuation Matrix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1901952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256032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371600"/>
            <a:ext cx="118872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2148840" y="1371600"/>
            <a:ext cx="11887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Div. Yield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100584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10058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13716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343400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1-Yr Return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15000" y="1371600"/>
            <a:ext cx="155448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5715000" y="1371600"/>
            <a:ext cx="1554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1371600"/>
            <a:ext cx="150876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/>
          <p:nvPr/>
        </p:nvSpPr>
        <p:spPr>
          <a:xfrm>
            <a:off x="7269480" y="1371600"/>
            <a:ext cx="1508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Coverage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1664208"/>
            <a:ext cx="1901952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256032" y="1664208"/>
            <a:ext cx="190195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SRU-UN ★ SmartCentres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48840" y="1664208"/>
            <a:ext cx="1188720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1" name="Text 19"/>
          <p:cNvSpPr/>
          <p:nvPr/>
        </p:nvSpPr>
        <p:spPr>
          <a:xfrm>
            <a:off x="2148840" y="1664208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1664208"/>
            <a:ext cx="1005840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/>
          <p:cNvSpPr/>
          <p:nvPr/>
        </p:nvSpPr>
        <p:spPr>
          <a:xfrm>
            <a:off x="3337560" y="1664208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1664208"/>
            <a:ext cx="1371600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5" name="Text 23"/>
          <p:cNvSpPr/>
          <p:nvPr/>
        </p:nvSpPr>
        <p:spPr>
          <a:xfrm>
            <a:off x="434340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1664208"/>
            <a:ext cx="1554480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7" name="Text 25"/>
          <p:cNvSpPr/>
          <p:nvPr/>
        </p:nvSpPr>
        <p:spPr>
          <a:xfrm>
            <a:off x="5715000" y="1664208"/>
            <a:ext cx="15544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9480" y="1664208"/>
            <a:ext cx="1508760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9" name="Text 27"/>
          <p:cNvSpPr/>
          <p:nvPr/>
        </p:nvSpPr>
        <p:spPr>
          <a:xfrm>
            <a:off x="7269480" y="1664208"/>
            <a:ext cx="1508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2066544"/>
            <a:ext cx="1901952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1" name="Text 29"/>
          <p:cNvSpPr/>
          <p:nvPr/>
        </p:nvSpPr>
        <p:spPr>
          <a:xfrm>
            <a:off x="256032" y="2066544"/>
            <a:ext cx="190195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REI-UN  RioCan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48840" y="2066544"/>
            <a:ext cx="1188720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3" name="Text 31"/>
          <p:cNvSpPr/>
          <p:nvPr/>
        </p:nvSpPr>
        <p:spPr>
          <a:xfrm>
            <a:off x="2148840" y="2066544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4.39%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37560" y="2066544"/>
            <a:ext cx="1005840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5" name="Text 33"/>
          <p:cNvSpPr/>
          <p:nvPr/>
        </p:nvSpPr>
        <p:spPr>
          <a:xfrm>
            <a:off x="3337560" y="2066544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2066544"/>
            <a:ext cx="1371600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7" name="Text 35"/>
          <p:cNvSpPr/>
          <p:nvPr/>
        </p:nvSpPr>
        <p:spPr>
          <a:xfrm>
            <a:off x="4343400" y="2066544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15000" y="2066544"/>
            <a:ext cx="1554480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9" name="Text 37"/>
          <p:cNvSpPr/>
          <p:nvPr/>
        </p:nvSpPr>
        <p:spPr>
          <a:xfrm>
            <a:off x="5715000" y="2066544"/>
            <a:ext cx="15544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69480" y="2066544"/>
            <a:ext cx="1508760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1" name="Text 39"/>
          <p:cNvSpPr/>
          <p:nvPr/>
        </p:nvSpPr>
        <p:spPr>
          <a:xfrm>
            <a:off x="7269480" y="2066544"/>
            <a:ext cx="1508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" y="2468880"/>
            <a:ext cx="19019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3" name="Text 41"/>
          <p:cNvSpPr/>
          <p:nvPr/>
        </p:nvSpPr>
        <p:spPr>
          <a:xfrm>
            <a:off x="256032" y="2468880"/>
            <a:ext cx="190195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CHP-UN  Choice Props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48840" y="2468880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5" name="Text 43"/>
          <p:cNvSpPr/>
          <p:nvPr/>
        </p:nvSpPr>
        <p:spPr>
          <a:xfrm>
            <a:off x="2148840" y="2468880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5.54%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37560" y="246888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7" name="Text 45"/>
          <p:cNvSpPr/>
          <p:nvPr/>
        </p:nvSpPr>
        <p:spPr>
          <a:xfrm>
            <a:off x="3337560" y="2468880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343400" y="246888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9" name="Text 47"/>
          <p:cNvSpPr/>
          <p:nvPr/>
        </p:nvSpPr>
        <p:spPr>
          <a:xfrm>
            <a:off x="434340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15000" y="2468880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1" name="Text 49"/>
          <p:cNvSpPr/>
          <p:nvPr/>
        </p:nvSpPr>
        <p:spPr>
          <a:xfrm>
            <a:off x="5715000" y="2468880"/>
            <a:ext cx="15544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69480" y="2468880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3" name="Text 51"/>
          <p:cNvSpPr/>
          <p:nvPr/>
        </p:nvSpPr>
        <p:spPr>
          <a:xfrm>
            <a:off x="7269480" y="2468880"/>
            <a:ext cx="1508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" y="2871216"/>
            <a:ext cx="1901952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5" name="Text 53"/>
          <p:cNvSpPr/>
          <p:nvPr/>
        </p:nvSpPr>
        <p:spPr>
          <a:xfrm>
            <a:off x="256032" y="2871216"/>
            <a:ext cx="190195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FCR-UN  First Capital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148840" y="2871216"/>
            <a:ext cx="1188720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7" name="Text 55"/>
          <p:cNvSpPr/>
          <p:nvPr/>
        </p:nvSpPr>
        <p:spPr>
          <a:xfrm>
            <a:off x="2148840" y="2871216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5.10%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337560" y="2871216"/>
            <a:ext cx="1005840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9" name="Text 57"/>
          <p:cNvSpPr/>
          <p:nvPr/>
        </p:nvSpPr>
        <p:spPr>
          <a:xfrm>
            <a:off x="3337560" y="2871216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16.5x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343400" y="2871216"/>
            <a:ext cx="1371600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61" name="Text 59"/>
          <p:cNvSpPr/>
          <p:nvPr/>
        </p:nvSpPr>
        <p:spPr>
          <a:xfrm>
            <a:off x="434340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~114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15000" y="2871216"/>
            <a:ext cx="1554480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63" name="Text 61"/>
          <p:cNvSpPr/>
          <p:nvPr/>
        </p:nvSpPr>
        <p:spPr>
          <a:xfrm>
            <a:off x="5715000" y="2871216"/>
            <a:ext cx="15544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269480" y="2871216"/>
            <a:ext cx="1508760" cy="38404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65" name="Text 63"/>
          <p:cNvSpPr/>
          <p:nvPr/>
        </p:nvSpPr>
        <p:spPr>
          <a:xfrm>
            <a:off x="7269480" y="2871216"/>
            <a:ext cx="1508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56032" y="3273552"/>
            <a:ext cx="19019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67" name="Text 65"/>
          <p:cNvSpPr/>
          <p:nvPr/>
        </p:nvSpPr>
        <p:spPr>
          <a:xfrm>
            <a:off x="256032" y="3273552"/>
            <a:ext cx="190195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CAR-UN  CAPREIT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148840" y="3273552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69" name="Text 67"/>
          <p:cNvSpPr/>
          <p:nvPr/>
        </p:nvSpPr>
        <p:spPr>
          <a:xfrm>
            <a:off x="2148840" y="3273552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337560" y="3273552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1" name="Text 69"/>
          <p:cNvSpPr/>
          <p:nvPr/>
        </p:nvSpPr>
        <p:spPr>
          <a:xfrm>
            <a:off x="3337560" y="3273552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22.4x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343400" y="327355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3" name="Text 71"/>
          <p:cNvSpPr/>
          <p:nvPr/>
        </p:nvSpPr>
        <p:spPr>
          <a:xfrm>
            <a:off x="4343400" y="3273552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715000" y="3273552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5" name="Text 73"/>
          <p:cNvSpPr/>
          <p:nvPr/>
        </p:nvSpPr>
        <p:spPr>
          <a:xfrm>
            <a:off x="5715000" y="3273552"/>
            <a:ext cx="15544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269480" y="3273552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7" name="Text 75"/>
          <p:cNvSpPr/>
          <p:nvPr/>
        </p:nvSpPr>
        <p:spPr>
          <a:xfrm>
            <a:off x="7269480" y="3273552"/>
            <a:ext cx="1508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56032" y="44988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Highest yield in the tracked peer set, solid occupancy, and improving payout ratio — a compelling income case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37744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OUR VERDICT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Recommendation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2697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Definitive Recommendation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Income-Focused Investors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SRU-UN.TO  |  TSX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89888"/>
            <a:ext cx="5440680" cy="786384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10"/>
          <p:cNvSpPr/>
          <p:nvPr/>
        </p:nvSpPr>
        <p:spPr>
          <a:xfrm>
            <a:off x="3383280" y="14356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Premium Yield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79222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6.15% vs. 5.54% sector avg. — AFFO payout improved to 89.2%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286000"/>
            <a:ext cx="5440680" cy="786384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Resilient Portfolio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688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 occupancy; Walmart-anchored stable rental cash flows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3182112"/>
            <a:ext cx="5440680" cy="786384"/>
          </a:xfrm>
          <a:prstGeom prst="rect">
            <a:avLst/>
          </a:prstGeom>
          <a:solidFill>
            <a:srgbClr val="142348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/>
          <p:nvPr/>
        </p:nvSpPr>
        <p:spPr>
          <a:xfrm>
            <a:off x="3383280" y="32278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Rate Tailwinds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5844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 at 2.50%; interest coverage rebounded to 2.6x in FY2025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4114800"/>
            <a:ext cx="5440680" cy="621792"/>
          </a:xfrm>
          <a:prstGeom prst="rect">
            <a:avLst/>
          </a:prstGeom>
          <a:solidFill>
            <a:srgbClr val="5D101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1" name="Text 19"/>
          <p:cNvSpPr/>
          <p:nvPr/>
        </p:nvSpPr>
        <p:spPr>
          <a:xfrm>
            <a:off x="3383280" y="4160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 Risk: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160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Debt-to-Assets at 44.4% and rising — monitor if BoC resumes rate hikes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4622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anchor leases and rising rental rates provide meaningful buffer against moderate macro shifts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37744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DEMO &amp; LESSONS LEARNED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Demo &amp; Lessons Learned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423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pipeline walkthrough in Google Colab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4086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yfinance &amp; Bank of Canada API calls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8833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MongoDB Atlas — 5 collections populated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3580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Analysis queries &amp; visualizations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GitHub repo, branches &amp; PR workflow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389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755648"/>
            <a:ext cx="4114800" cy="65836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4709160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Real APIs Have Real Surprises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blocks and schema changes need robust fallback design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505456"/>
            <a:ext cx="4114800" cy="65836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/>
          <p:nvPr/>
        </p:nvSpPr>
        <p:spPr>
          <a:xfrm>
            <a:off x="4709160" y="2542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NoSQL Fits Heterogeneous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handled JSON, CSV and manual sources with minimal friction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255264"/>
            <a:ext cx="4114800" cy="65836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1" name="Text 19"/>
          <p:cNvSpPr/>
          <p:nvPr/>
        </p:nvSpPr>
        <p:spPr>
          <a:xfrm>
            <a:off x="4709160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Git Workflow Prevents Conflicts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+ PRs enabled clean parallel contribution across 4 members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4005072"/>
            <a:ext cx="4114800" cy="658368"/>
          </a:xfrm>
          <a:prstGeom prst="rect">
            <a:avLst/>
          </a:prstGeom>
          <a:solidFill>
            <a:srgbClr val="EAF0FA"/>
          </a:solid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2"/>
          <p:cNvSpPr/>
          <p:nvPr/>
        </p:nvSpPr>
        <p:spPr>
          <a:xfrm>
            <a:off x="4709160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Tells a Story When Cleaned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334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numbers become insight only after cleaning, context and visualization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Investment Analysis  |  BSMM-8730  |  July 17,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SmartCentres REIT  ·  Definitive BUY Recommendation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0" y="2048256"/>
            <a:ext cx="45720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2860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4320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2.6x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5488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Coverage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22860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6656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Return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Aravindhan Ramesh  ·  Novesh Sewruttun  ·  Satabdee Saha  ·  Mohammad Ifaz Ishtiak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3708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BSMM-8730  ·  Prof. El-Sharif  ·  July 17, 2026  ·  Odette School of Business, University of Windsor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1088</Words>
  <Application>Microsoft Macintosh PowerPoint</Application>
  <PresentationFormat>On-screen Show (16:9)</PresentationFormat>
  <Paragraphs>273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Ifaz Ishtiak</cp:lastModifiedBy>
  <cp:revision>4</cp:revision>
  <dcterms:created xsi:type="dcterms:W3CDTF">2026-07-17T20:56:00Z</dcterms:created>
  <dcterms:modified xsi:type="dcterms:W3CDTF">2026-07-17T22:24:20Z</dcterms:modified>
</cp:coreProperties>
</file>